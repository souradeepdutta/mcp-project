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7" r:id="rId10"/>
    <p:sldId id="263" r:id="rId11"/>
    <p:sldId id="265" r:id="rId12"/>
    <p:sldId id="266" r:id="rId13"/>
    <p:sldId id="268" r:id="rId14"/>
    <p:sldId id="269" r:id="rId15"/>
    <p:sldId id="270" r:id="rId16"/>
    <p:sldId id="264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B8D830-F524-4FDD-A8FD-6AA3C0C92A4C}" v="1" dt="2023-08-21T20:32:13.980"/>
    <p1510:client id="{CEA0D785-2885-49B3-972D-6AB6BFA73821}" v="5" dt="2023-08-21T21:53:24.76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BF9"/>
          </a:solidFill>
        </a:fill>
      </a:tcStyle>
    </a:wholeTbl>
    <a:band2H>
      <a:tcTxStyle/>
      <a:tcStyle>
        <a:tcBdr/>
        <a:fill>
          <a:solidFill>
            <a:srgbClr val="E8EEFC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D5D1"/>
          </a:solidFill>
        </a:fill>
      </a:tcStyle>
    </a:wholeTbl>
    <a:band2H>
      <a:tcTxStyle/>
      <a:tcStyle>
        <a:tcBdr/>
        <a:fill>
          <a:solidFill>
            <a:srgbClr val="FCEBEA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CFD1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DCCA"/>
          </a:solidFill>
        </a:fill>
      </a:tcStyle>
    </a:wholeTbl>
    <a:band2H>
      <a:tcTxStyle/>
      <a:tcStyle>
        <a:tcBdr/>
        <a:fill>
          <a:solidFill>
            <a:srgbClr val="FFEEE7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Annen" userId="d07a86dcd2295993" providerId="Windows Live" clId="Web-{CEA0D785-2885-49B3-972D-6AB6BFA73821}"/>
    <pc:docChg chg="addSld modSld">
      <pc:chgData name="Oscar Annen" userId="d07a86dcd2295993" providerId="Windows Live" clId="Web-{CEA0D785-2885-49B3-972D-6AB6BFA73821}" dt="2023-08-21T21:53:24.764" v="3" actId="20577"/>
      <pc:docMkLst>
        <pc:docMk/>
      </pc:docMkLst>
      <pc:sldChg chg="modSp new">
        <pc:chgData name="Oscar Annen" userId="d07a86dcd2295993" providerId="Windows Live" clId="Web-{CEA0D785-2885-49B3-972D-6AB6BFA73821}" dt="2023-08-21T21:53:24.764" v="3" actId="20577"/>
        <pc:sldMkLst>
          <pc:docMk/>
          <pc:sldMk cId="1478023678" sldId="256"/>
        </pc:sldMkLst>
        <pc:spChg chg="mod">
          <ac:chgData name="Oscar Annen" userId="d07a86dcd2295993" providerId="Windows Live" clId="Web-{CEA0D785-2885-49B3-972D-6AB6BFA73821}" dt="2023-08-21T21:53:20.701" v="2" actId="20577"/>
          <ac:spMkLst>
            <pc:docMk/>
            <pc:sldMk cId="1478023678" sldId="256"/>
            <ac:spMk id="2" creationId="{286A3ACB-9066-5FDD-4CA4-1454159AB51A}"/>
          </ac:spMkLst>
        </pc:spChg>
        <pc:spChg chg="mod">
          <ac:chgData name="Oscar Annen" userId="d07a86dcd2295993" providerId="Windows Live" clId="Web-{CEA0D785-2885-49B3-972D-6AB6BFA73821}" dt="2023-08-21T21:53:24.764" v="3" actId="20577"/>
          <ac:spMkLst>
            <pc:docMk/>
            <pc:sldMk cId="1478023678" sldId="256"/>
            <ac:spMk id="3" creationId="{9C5129A8-A038-DF75-63EE-0D12E6A5E3B6}"/>
          </ac:spMkLst>
        </pc:spChg>
      </pc:sldChg>
    </pc:docChg>
  </pc:docChgLst>
  <pc:docChgLst>
    <pc:chgData name="Oscar Annen" userId="d07a86dcd2295993" providerId="Windows Live" clId="Web-{85B8D830-F524-4FDD-A8FD-6AA3C0C92A4C}"/>
    <pc:docChg chg="delSld">
      <pc:chgData name="Oscar Annen" userId="d07a86dcd2295993" providerId="Windows Live" clId="Web-{85B8D830-F524-4FDD-A8FD-6AA3C0C92A4C}" dt="2023-08-21T20:32:13.980" v="0"/>
      <pc:docMkLst>
        <pc:docMk/>
      </pc:docMkLst>
      <pc:sldChg chg="del">
        <pc:chgData name="Oscar Annen" userId="d07a86dcd2295993" providerId="Windows Live" clId="Web-{85B8D830-F524-4FDD-A8FD-6AA3C0C92A4C}" dt="2023-08-21T20:32:13.980" v="0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0" name="Shape 1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4000500" y="1087403"/>
            <a:ext cx="8191500" cy="57705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8" y="0"/>
                </a:moveTo>
                <a:cubicBezTo>
                  <a:pt x="16139" y="0"/>
                  <a:pt x="19020" y="1571"/>
                  <a:pt x="21267" y="4187"/>
                </a:cubicBezTo>
                <a:lnTo>
                  <a:pt x="21600" y="4594"/>
                </a:lnTo>
                <a:lnTo>
                  <a:pt x="21600" y="21600"/>
                </a:lnTo>
                <a:lnTo>
                  <a:pt x="210" y="21600"/>
                </a:lnTo>
                <a:lnTo>
                  <a:pt x="150" y="21127"/>
                </a:lnTo>
                <a:cubicBezTo>
                  <a:pt x="51" y="20216"/>
                  <a:pt x="0" y="19284"/>
                  <a:pt x="0" y="18335"/>
                </a:cubicBezTo>
                <a:cubicBezTo>
                  <a:pt x="0" y="8209"/>
                  <a:pt x="5820" y="0"/>
                  <a:pt x="12998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" name="Straight Connector 11"/>
          <p:cNvSpPr/>
          <p:nvPr/>
        </p:nvSpPr>
        <p:spPr>
          <a:xfrm flipH="1">
            <a:off x="406240" y="183933"/>
            <a:ext cx="1" cy="1597709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" name="Freeform: Shape 13"/>
          <p:cNvSpPr/>
          <p:nvPr/>
        </p:nvSpPr>
        <p:spPr>
          <a:xfrm>
            <a:off x="5292347" y="1"/>
            <a:ext cx="2279743" cy="12677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314" y="0"/>
                </a:lnTo>
                <a:lnTo>
                  <a:pt x="1314" y="18370"/>
                </a:lnTo>
                <a:lnTo>
                  <a:pt x="18975" y="0"/>
                </a:lnTo>
                <a:lnTo>
                  <a:pt x="21600" y="0"/>
                </a:lnTo>
                <a:lnTo>
                  <a:pt x="986" y="21442"/>
                </a:lnTo>
                <a:cubicBezTo>
                  <a:pt x="886" y="21545"/>
                  <a:pt x="772" y="21600"/>
                  <a:pt x="657" y="21600"/>
                </a:cubicBezTo>
                <a:cubicBezTo>
                  <a:pt x="294" y="21600"/>
                  <a:pt x="0" y="21071"/>
                  <a:pt x="0" y="20418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6" name="Freeform: Shape 15"/>
          <p:cNvSpPr/>
          <p:nvPr/>
        </p:nvSpPr>
        <p:spPr>
          <a:xfrm>
            <a:off x="10208694" y="1"/>
            <a:ext cx="1135067" cy="477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7" name="Oval 17"/>
          <p:cNvSpPr/>
          <p:nvPr/>
        </p:nvSpPr>
        <p:spPr>
          <a:xfrm>
            <a:off x="1569043" y="514897"/>
            <a:ext cx="2393353" cy="2328425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" name="Freeform: Shape 19"/>
          <p:cNvSpPr/>
          <p:nvPr/>
        </p:nvSpPr>
        <p:spPr>
          <a:xfrm flipH="1">
            <a:off x="0" y="2949739"/>
            <a:ext cx="1186452" cy="1771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7" y="0"/>
                </a:moveTo>
                <a:lnTo>
                  <a:pt x="21600" y="0"/>
                </a:lnTo>
                <a:lnTo>
                  <a:pt x="21600" y="1510"/>
                </a:lnTo>
                <a:lnTo>
                  <a:pt x="2254" y="1510"/>
                </a:lnTo>
                <a:lnTo>
                  <a:pt x="2254" y="20090"/>
                </a:lnTo>
                <a:lnTo>
                  <a:pt x="21600" y="20090"/>
                </a:lnTo>
                <a:lnTo>
                  <a:pt x="21600" y="21600"/>
                </a:lnTo>
                <a:lnTo>
                  <a:pt x="1127" y="21600"/>
                </a:lnTo>
                <a:cubicBezTo>
                  <a:pt x="505" y="21600"/>
                  <a:pt x="0" y="21262"/>
                  <a:pt x="0" y="20845"/>
                </a:cubicBezTo>
                <a:lnTo>
                  <a:pt x="0" y="755"/>
                </a:lnTo>
                <a:cubicBezTo>
                  <a:pt x="0" y="338"/>
                  <a:pt x="505" y="0"/>
                  <a:pt x="1127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" name="Arc 21"/>
          <p:cNvSpPr/>
          <p:nvPr/>
        </p:nvSpPr>
        <p:spPr>
          <a:xfrm rot="16200000">
            <a:off x="1539682" y="4203427"/>
            <a:ext cx="2041718" cy="20417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11929" y="0"/>
                  <a:pt x="21600" y="9671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5093208" y="2743200"/>
            <a:ext cx="6592825" cy="2386584"/>
          </a:xfrm>
          <a:prstGeom prst="rect">
            <a:avLst/>
          </a:prstGeom>
        </p:spPr>
        <p:txBody>
          <a:bodyPr anchor="b"/>
          <a:lstStyle>
            <a:lvl1pPr algn="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093208" y="5221223"/>
            <a:ext cx="6592825" cy="996697"/>
          </a:xfrm>
          <a:prstGeom prst="rect">
            <a:avLst/>
          </a:prstGeom>
        </p:spPr>
        <p:txBody>
          <a:bodyPr/>
          <a:lstStyle>
            <a:lvl1pPr marL="0" indent="0" algn="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9"/>
          <p:cNvSpPr/>
          <p:nvPr/>
        </p:nvSpPr>
        <p:spPr>
          <a:xfrm>
            <a:off x="489188" y="1119030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0" name="Arc 11"/>
          <p:cNvSpPr/>
          <p:nvPr/>
        </p:nvSpPr>
        <p:spPr>
          <a:xfrm rot="19809111">
            <a:off x="9735982" y="660555"/>
            <a:ext cx="1659892" cy="22340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69" h="20833" extrusionOk="0">
                <a:moveTo>
                  <a:pt x="0" y="88"/>
                </a:moveTo>
                <a:lnTo>
                  <a:pt x="0" y="88"/>
                </a:lnTo>
                <a:cubicBezTo>
                  <a:pt x="10507" y="-767"/>
                  <a:pt x="19976" y="4739"/>
                  <a:pt x="21150" y="12385"/>
                </a:cubicBezTo>
                <a:cubicBezTo>
                  <a:pt x="21600" y="15315"/>
                  <a:pt x="20762" y="18272"/>
                  <a:pt x="18756" y="20833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1" name="Oval 13"/>
          <p:cNvSpPr/>
          <p:nvPr/>
        </p:nvSpPr>
        <p:spPr>
          <a:xfrm>
            <a:off x="910048" y="4780991"/>
            <a:ext cx="546101" cy="54610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xfrm>
            <a:off x="1170432" y="1399032"/>
            <a:ext cx="3236977" cy="406908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88152" y="1527047"/>
            <a:ext cx="5111497" cy="3931922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266700">
              <a:buFontTx/>
            </a:lvl2pPr>
            <a:lvl3pPr marL="548639">
              <a:buFontTx/>
            </a:lvl3pPr>
            <a:lvl4pPr marL="0" indent="1371600">
              <a:buSzTx/>
              <a:buFontTx/>
              <a:buNone/>
            </a:lvl4pPr>
            <a:lvl5pPr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1"/>
          <p:cNvSpPr>
            <a:spLocks noGrp="1"/>
          </p:cNvSpPr>
          <p:nvPr>
            <p:ph type="pic" sz="quarter" idx="21"/>
          </p:nvPr>
        </p:nvSpPr>
        <p:spPr>
          <a:xfrm>
            <a:off x="7200479" y="1150210"/>
            <a:ext cx="2207046" cy="220417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2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8444631" y="2579683"/>
            <a:ext cx="3096808" cy="309680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3" name="Title Text"/>
          <p:cNvSpPr txBox="1">
            <a:spLocks noGrp="1"/>
          </p:cNvSpPr>
          <p:nvPr>
            <p:ph type="title"/>
          </p:nvPr>
        </p:nvSpPr>
        <p:spPr>
          <a:xfrm>
            <a:off x="539495" y="365124"/>
            <a:ext cx="5806442" cy="132588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9495" y="1825625"/>
            <a:ext cx="5806442" cy="43525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buSzTx/>
              <a:buFontTx/>
              <a:buNone/>
              <a:defRPr sz="2400"/>
            </a:lvl1pPr>
            <a:lvl2pPr marL="274319" indent="-274319">
              <a:lnSpc>
                <a:spcPct val="110000"/>
              </a:lnSpc>
              <a:buFontTx/>
              <a:defRPr sz="2400"/>
            </a:lvl2pPr>
            <a:lvl3pPr marL="533400" indent="-304800">
              <a:lnSpc>
                <a:spcPct val="110000"/>
              </a:lnSpc>
              <a:buFontTx/>
              <a:defRPr sz="2400"/>
            </a:lvl3pPr>
            <a:lvl4pPr marL="800100" indent="-342900">
              <a:lnSpc>
                <a:spcPct val="110000"/>
              </a:lnSpc>
              <a:buFontTx/>
              <a:defRPr sz="2400"/>
            </a:lvl4pPr>
            <a:lvl5pPr marL="2133600" indent="-304800">
              <a:lnSpc>
                <a:spcPct val="110000"/>
              </a:lnSpc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6" name="Oval 9"/>
          <p:cNvSpPr/>
          <p:nvPr/>
        </p:nvSpPr>
        <p:spPr>
          <a:xfrm>
            <a:off x="10249620" y="1555067"/>
            <a:ext cx="819305" cy="797079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7" name="Rectangle 11"/>
          <p:cNvSpPr/>
          <p:nvPr/>
        </p:nvSpPr>
        <p:spPr>
          <a:xfrm>
            <a:off x="7590088" y="4034392"/>
            <a:ext cx="876705" cy="876705"/>
          </a:xfrm>
          <a:prstGeom prst="rect">
            <a:avLst/>
          </a:prstGeom>
          <a:ln w="127000">
            <a:solidFill>
              <a:schemeClr val="accent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6"/>
          <p:cNvSpPr/>
          <p:nvPr/>
        </p:nvSpPr>
        <p:spPr>
          <a:xfrm>
            <a:off x="2815928" y="148928"/>
            <a:ext cx="6560144" cy="6560144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5" name="Arc 7"/>
          <p:cNvSpPr/>
          <p:nvPr/>
        </p:nvSpPr>
        <p:spPr>
          <a:xfrm rot="9222429" flipV="1">
            <a:off x="1900746" y="906095"/>
            <a:ext cx="3085935" cy="19616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2" y="8419"/>
                  <a:pt x="21600" y="21600"/>
                </a:cubicBezTo>
              </a:path>
            </a:pathLst>
          </a:custGeom>
          <a:ln w="127000" cap="rnd">
            <a:solidFill>
              <a:schemeClr val="accent4">
                <a:alpha val="95000"/>
              </a:schemeClr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6" name="Oval 13"/>
          <p:cNvSpPr/>
          <p:nvPr/>
        </p:nvSpPr>
        <p:spPr>
          <a:xfrm>
            <a:off x="8165417" y="5241988"/>
            <a:ext cx="759405" cy="738803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3319271" y="1380744"/>
            <a:ext cx="5559553" cy="2514601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319271" y="4078223"/>
            <a:ext cx="5559553" cy="153619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539495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idx="1"/>
          </p:nvPr>
        </p:nvSpPr>
        <p:spPr>
          <a:xfrm>
            <a:off x="1179575" y="1911095"/>
            <a:ext cx="9829801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9" name="Freeform: Shape 6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70" name="Freeform: Shape 7"/>
          <p:cNvSpPr/>
          <p:nvPr/>
        </p:nvSpPr>
        <p:spPr>
          <a:xfrm flipH="1">
            <a:off x="123535" y="5717904"/>
            <a:ext cx="1771611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9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911095"/>
            <a:ext cx="10515600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 slide with pictur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icture Placeholder 5"/>
          <p:cNvSpPr>
            <a:spLocks noGrp="1"/>
          </p:cNvSpPr>
          <p:nvPr>
            <p:ph type="pic" idx="21"/>
          </p:nvPr>
        </p:nvSpPr>
        <p:spPr>
          <a:xfrm>
            <a:off x="0" y="1"/>
            <a:ext cx="12192000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7" name="Title Text"/>
          <p:cNvSpPr txBox="1"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 anchor="b"/>
          <a:lstStyle>
            <a:lvl1pPr algn="ctr">
              <a:defRPr sz="4000"/>
            </a:lvl1pPr>
          </a:lstStyle>
          <a:p>
            <a:r>
              <a:t>Title Text</a:t>
            </a:r>
          </a:p>
        </p:txBody>
      </p:sp>
      <p:sp>
        <p:nvSpPr>
          <p:cNvPr id="8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303" y="4379976"/>
            <a:ext cx="5038345" cy="71323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3291842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453128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9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8065007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icture Placeholder 19"/>
          <p:cNvSpPr>
            <a:spLocks noGrp="1"/>
          </p:cNvSpPr>
          <p:nvPr>
            <p:ph type="pic" sz="half" idx="21"/>
          </p:nvPr>
        </p:nvSpPr>
        <p:spPr>
          <a:xfrm>
            <a:off x="7901258" y="2727729"/>
            <a:ext cx="4290741" cy="41302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7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6261608" y="-1"/>
            <a:ext cx="3519313" cy="30079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8" name="Oval 9"/>
          <p:cNvSpPr/>
          <p:nvPr/>
        </p:nvSpPr>
        <p:spPr>
          <a:xfrm>
            <a:off x="10420569" y="1364732"/>
            <a:ext cx="947489" cy="921786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29" name="Arc 11"/>
          <p:cNvSpPr/>
          <p:nvPr/>
        </p:nvSpPr>
        <p:spPr>
          <a:xfrm rot="4759070" flipV="1">
            <a:off x="5896042" y="1918749"/>
            <a:ext cx="1820521" cy="1157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3" y="8419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30" name="Title Text"/>
          <p:cNvSpPr txBox="1">
            <a:spLocks noGrp="1"/>
          </p:cNvSpPr>
          <p:nvPr>
            <p:ph type="title"/>
          </p:nvPr>
        </p:nvSpPr>
        <p:spPr>
          <a:xfrm>
            <a:off x="841247" y="365759"/>
            <a:ext cx="5120642" cy="132588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1247" y="1828800"/>
            <a:ext cx="5093210" cy="4352545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228600" indent="-228600">
              <a:buFontTx/>
              <a:defRPr sz="2400"/>
            </a:lvl2pPr>
            <a:lvl3pPr marL="502919" indent="-274319">
              <a:buFontTx/>
              <a:defRPr sz="2400"/>
            </a:lvl3pPr>
            <a:lvl4pPr marL="7620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Oval 9"/>
          <p:cNvSpPr/>
          <p:nvPr/>
        </p:nvSpPr>
        <p:spPr>
          <a:xfrm>
            <a:off x="707392" y="847599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0" name="Freeform: Shape 11"/>
          <p:cNvSpPr/>
          <p:nvPr/>
        </p:nvSpPr>
        <p:spPr>
          <a:xfrm flipH="1">
            <a:off x="530529" y="-1"/>
            <a:ext cx="1155142" cy="591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" y="0"/>
                </a:moveTo>
                <a:lnTo>
                  <a:pt x="21575" y="0"/>
                </a:lnTo>
                <a:lnTo>
                  <a:pt x="21600" y="491"/>
                </a:lnTo>
                <a:cubicBezTo>
                  <a:pt x="21600" y="12149"/>
                  <a:pt x="16765" y="21600"/>
                  <a:pt x="10800" y="21600"/>
                </a:cubicBezTo>
                <a:cubicBezTo>
                  <a:pt x="4835" y="21600"/>
                  <a:pt x="0" y="12149"/>
                  <a:pt x="0" y="491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1" name="Freeform: Shape 13"/>
          <p:cNvSpPr/>
          <p:nvPr/>
        </p:nvSpPr>
        <p:spPr>
          <a:xfrm flipH="1">
            <a:off x="3961510" y="-1"/>
            <a:ext cx="1737402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2" name="Freeform: Shape 15"/>
          <p:cNvSpPr/>
          <p:nvPr/>
        </p:nvSpPr>
        <p:spPr>
          <a:xfrm flipH="1">
            <a:off x="0" y="2936831"/>
            <a:ext cx="159742" cy="552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21600" y="21600"/>
                </a:lnTo>
                <a:lnTo>
                  <a:pt x="19181" y="21221"/>
                </a:lnTo>
                <a:cubicBezTo>
                  <a:pt x="7608" y="18962"/>
                  <a:pt x="0" y="15138"/>
                  <a:pt x="0" y="10800"/>
                </a:cubicBezTo>
                <a:cubicBezTo>
                  <a:pt x="0" y="6462"/>
                  <a:pt x="7608" y="2638"/>
                  <a:pt x="19181" y="379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3" name="Freeform: Shape 17"/>
          <p:cNvSpPr/>
          <p:nvPr/>
        </p:nvSpPr>
        <p:spPr>
          <a:xfrm flipH="1">
            <a:off x="0" y="5835648"/>
            <a:ext cx="1548181" cy="10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4" y="0"/>
                </a:moveTo>
                <a:lnTo>
                  <a:pt x="21600" y="0"/>
                </a:lnTo>
                <a:lnTo>
                  <a:pt x="21600" y="2616"/>
                </a:lnTo>
                <a:lnTo>
                  <a:pt x="1728" y="2616"/>
                </a:lnTo>
                <a:lnTo>
                  <a:pt x="1728" y="21600"/>
                </a:lnTo>
                <a:lnTo>
                  <a:pt x="0" y="21600"/>
                </a:lnTo>
                <a:lnTo>
                  <a:pt x="0" y="1308"/>
                </a:lnTo>
                <a:cubicBezTo>
                  <a:pt x="0" y="586"/>
                  <a:pt x="387" y="0"/>
                  <a:pt x="864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4" name="Freeform: Shape 19"/>
          <p:cNvSpPr/>
          <p:nvPr/>
        </p:nvSpPr>
        <p:spPr>
          <a:xfrm flipH="1">
            <a:off x="3405056" y="5717904"/>
            <a:ext cx="1771610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5" name="Freeform: Shape 21"/>
          <p:cNvSpPr/>
          <p:nvPr/>
        </p:nvSpPr>
        <p:spPr>
          <a:xfrm flipH="1">
            <a:off x="4132972" y="6258755"/>
            <a:ext cx="1565941" cy="5992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5420" y="0"/>
                  <a:pt x="19384" y="7141"/>
                  <a:pt x="21077" y="17319"/>
                </a:cubicBezTo>
                <a:lnTo>
                  <a:pt x="21600" y="21600"/>
                </a:lnTo>
                <a:lnTo>
                  <a:pt x="0" y="21600"/>
                </a:lnTo>
                <a:lnTo>
                  <a:pt x="523" y="17319"/>
                </a:lnTo>
                <a:cubicBezTo>
                  <a:pt x="2216" y="7141"/>
                  <a:pt x="6180" y="0"/>
                  <a:pt x="10800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1389888" y="1234439"/>
            <a:ext cx="3236977" cy="406908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3193" y="6404292"/>
            <a:ext cx="273656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665976" y="2551176"/>
            <a:ext cx="4709160" cy="175564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304800" indent="-304800">
              <a:buFontTx/>
              <a:defRPr sz="2400"/>
            </a:lvl2pPr>
            <a:lvl3pPr marL="533400" indent="-304800">
              <a:buFontTx/>
              <a:defRPr sz="2400"/>
            </a:lvl3pPr>
            <a:lvl4pPr marL="16764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3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7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2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81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8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Freeform: Shape 4"/>
          <p:cNvSpPr/>
          <p:nvPr/>
        </p:nvSpPr>
        <p:spPr>
          <a:xfrm rot="16200000">
            <a:off x="-388933" y="4841194"/>
            <a:ext cx="1737401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" name="Freeform: Shape 5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6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Autonomous Phishing Triage 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 dirty="0"/>
              <a:t>High alert volume from phishing attacks</a:t>
            </a:r>
          </a:p>
          <a:p>
            <a:r>
              <a:rPr sz="2000" dirty="0"/>
              <a:t>20</a:t>
            </a:r>
            <a:r>
              <a:rPr lang="en-IN" sz="2000" dirty="0"/>
              <a:t> - </a:t>
            </a:r>
            <a:r>
              <a:rPr sz="2000" dirty="0"/>
              <a:t>30 minutes required for manual email triage</a:t>
            </a:r>
          </a:p>
          <a:p>
            <a:r>
              <a:rPr sz="2000" dirty="0"/>
              <a:t>Analyst burnout and delayed response increase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 dirty="0"/>
              <a:t>Autonomous email investigation without human triggers</a:t>
            </a:r>
          </a:p>
          <a:p>
            <a:r>
              <a:rPr sz="2000" dirty="0"/>
              <a:t>MCP-powered integrations with </a:t>
            </a:r>
            <a:r>
              <a:rPr lang="en-IN" sz="2000" dirty="0"/>
              <a:t>Mail server, </a:t>
            </a:r>
            <a:r>
              <a:rPr sz="2000" dirty="0"/>
              <a:t>SIEM, Threat Intel, and EDR</a:t>
            </a:r>
          </a:p>
          <a:p>
            <a:r>
              <a:rPr sz="2000" dirty="0"/>
              <a:t>Structured reports following strict </a:t>
            </a:r>
            <a:r>
              <a:rPr lang="en-IN" sz="2000" dirty="0"/>
              <a:t>guidelines</a:t>
            </a:r>
            <a:endParaRPr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Business Impact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 dirty="0"/>
              <a:t>9</a:t>
            </a:r>
            <a:r>
              <a:rPr lang="en-IN" sz="2000" dirty="0"/>
              <a:t>5</a:t>
            </a:r>
            <a:r>
              <a:rPr sz="2000" dirty="0"/>
              <a:t>% reduction in triage time (&lt;</a:t>
            </a:r>
            <a:r>
              <a:rPr lang="en-IN" sz="2000" dirty="0"/>
              <a:t>9</a:t>
            </a:r>
            <a:r>
              <a:rPr sz="2000" dirty="0"/>
              <a:t>0 seconds)</a:t>
            </a:r>
          </a:p>
          <a:p>
            <a:r>
              <a:rPr sz="2000" dirty="0"/>
              <a:t>Eliminates backlog during phishing campaigns</a:t>
            </a:r>
          </a:p>
          <a:p>
            <a:r>
              <a:rPr sz="2000" dirty="0"/>
              <a:t>Reduces cost and improves detection speed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Tech Stack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 dirty="0"/>
              <a:t>LLMs for reasoning and decision-making</a:t>
            </a:r>
          </a:p>
          <a:p>
            <a:r>
              <a:rPr sz="2000" dirty="0"/>
              <a:t>Model Context Protocol (MCP) as integration bridge</a:t>
            </a:r>
          </a:p>
          <a:p>
            <a:r>
              <a:rPr lang="en-IN" sz="2000" dirty="0"/>
              <a:t>Claude Desktop, </a:t>
            </a:r>
            <a:r>
              <a:rPr sz="2000" dirty="0"/>
              <a:t>Python, </a:t>
            </a:r>
            <a:r>
              <a:rPr lang="en-IN" sz="2000" dirty="0" err="1"/>
              <a:t>Mailpit</a:t>
            </a:r>
            <a:r>
              <a:rPr lang="en-IN" sz="2000" dirty="0"/>
              <a:t>, </a:t>
            </a:r>
            <a:r>
              <a:rPr sz="2000" dirty="0" err="1"/>
              <a:t>VirusTotal</a:t>
            </a:r>
            <a:r>
              <a:rPr sz="2000" dirty="0"/>
              <a:t>, Splunk, SQLite, Streamlit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0CCF5-F30F-F3F5-8E42-E788D4C63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9385E-B70F-A00C-BE91-C8D2456F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Implementation video</a:t>
            </a:r>
            <a:endParaRPr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4A69F-0930-4597-7419-687A194924EE}"/>
              </a:ext>
            </a:extLst>
          </p:cNvPr>
          <p:cNvSpPr txBox="1"/>
          <p:nvPr/>
        </p:nvSpPr>
        <p:spPr>
          <a:xfrm>
            <a:off x="1257300" y="2268415"/>
            <a:ext cx="288316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IN" dirty="0"/>
              <a:t>https://youtu.be/EjDulTrCadc</a:t>
            </a: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venir Next LT Pro"/>
              <a:ea typeface="Avenir Next LT Pro"/>
              <a:cs typeface="Avenir Next LT Pro"/>
              <a:sym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947727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Investigation Workflow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read the </a:t>
            </a:r>
            <a:r>
              <a:rPr lang="en-US" sz="2000" b="1" dirty="0"/>
              <a:t>phishing SOC analyst skill</a:t>
            </a:r>
          </a:p>
          <a:p>
            <a:r>
              <a:rPr lang="en-US" sz="2000" dirty="0"/>
              <a:t>search available tools from the </a:t>
            </a:r>
            <a:r>
              <a:rPr lang="en-US" sz="2000" b="1" dirty="0" err="1"/>
              <a:t>phishing_tools</a:t>
            </a:r>
            <a:r>
              <a:rPr lang="en-US" sz="2000" b="1" dirty="0"/>
              <a:t> </a:t>
            </a:r>
            <a:r>
              <a:rPr lang="en-US" sz="2000" dirty="0"/>
              <a:t>MCP server</a:t>
            </a:r>
          </a:p>
          <a:p>
            <a:r>
              <a:rPr lang="en-US" sz="2000" dirty="0"/>
              <a:t>extract the email artifacts</a:t>
            </a:r>
          </a:p>
          <a:p>
            <a:r>
              <a:rPr lang="en-US" sz="2000" dirty="0"/>
              <a:t>check threat intel for domain &amp; </a:t>
            </a:r>
            <a:r>
              <a:rPr lang="en-US" sz="2000" dirty="0" err="1"/>
              <a:t>ip</a:t>
            </a:r>
            <a:r>
              <a:rPr lang="en-US" sz="2000" dirty="0"/>
              <a:t> reputation</a:t>
            </a:r>
          </a:p>
          <a:p>
            <a:r>
              <a:rPr lang="en-US" sz="2000" dirty="0"/>
              <a:t>query </a:t>
            </a:r>
            <a:r>
              <a:rPr lang="en-US" sz="2000" dirty="0" err="1"/>
              <a:t>splunk</a:t>
            </a:r>
            <a:r>
              <a:rPr lang="en-US" sz="2000" dirty="0"/>
              <a:t> for clicks</a:t>
            </a:r>
          </a:p>
          <a:p>
            <a:r>
              <a:rPr lang="en-US" sz="2000" dirty="0"/>
              <a:t>query endpoint activity</a:t>
            </a:r>
          </a:p>
          <a:p>
            <a:r>
              <a:rPr lang="en-US" sz="2000" dirty="0" err="1"/>
              <a:t>Analyse</a:t>
            </a:r>
            <a:r>
              <a:rPr lang="en-US" sz="2000" dirty="0"/>
              <a:t> the results and save the investigation report in the database</a:t>
            </a:r>
          </a:p>
          <a:p>
            <a:r>
              <a:rPr lang="en-US" sz="2000" dirty="0"/>
              <a:t>Display details in the UI</a:t>
            </a:r>
            <a:endParaRPr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Architecture</a:t>
            </a:r>
            <a:r>
              <a:rPr lang="en-IN" sz="3200" dirty="0"/>
              <a:t> Diagram</a:t>
            </a:r>
            <a:endParaRPr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E66EDF-6F0E-567B-F6AD-89A55AE077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865" y="1900430"/>
            <a:ext cx="9642231" cy="368268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DAE7E-5159-20E7-0CAE-C35682CB2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78CE3-0036-FCC6-15FD-225BC66EF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Workflow Diagram</a:t>
            </a:r>
            <a:endParaRPr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3AFC61-AA48-8760-7732-EF12EA3401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069" y="1690688"/>
            <a:ext cx="9149862" cy="429971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1035407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Screenshots</a:t>
            </a:r>
            <a:endParaRPr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1F6D4B-82A8-126A-DADD-AE51E387B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998" y="1278953"/>
            <a:ext cx="9272954" cy="52139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39118-8F8C-051D-A849-075E5DC3B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897B9-53D7-4836-33F8-76423FE85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Screenshots</a:t>
            </a:r>
            <a:endParaRPr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11DC0-43F2-AB0B-D6EF-35F62356F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299F1E-939A-1361-1B97-C411D5B83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269" y="1531384"/>
            <a:ext cx="7954108" cy="447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518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B77BC-2984-3727-0050-86682FC78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BDC6A-EF4A-8C89-AC4F-CBDBC1EBA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Screenshots</a:t>
            </a:r>
            <a:endParaRPr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E4A22-8BBB-9D36-4D5C-686453585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61B947-325D-2936-1FEB-3A7D7C231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945" y="1513322"/>
            <a:ext cx="8279423" cy="465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526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CE49C-E872-A73F-7880-69140A08E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CD539-6AE8-D6C3-4E75-CC30944B9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Screenshots</a:t>
            </a:r>
            <a:endParaRPr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3045A-52F8-0208-EEF2-CD921E69D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5EF8BF-53B2-603B-4213-E4686E8EE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07" y="1429279"/>
            <a:ext cx="6559062" cy="36879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ECD105-2EFC-915C-0D63-18E277B1D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731" y="0"/>
            <a:ext cx="6169269" cy="34688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2CA5D2-CDF0-EB2A-2C11-DDAD352E1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730" y="3387802"/>
            <a:ext cx="6169270" cy="346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463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03C0E-52E3-963D-284B-A2DD7084D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154E2-0F0A-205D-2998-25DE50F68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Screenshots</a:t>
            </a:r>
            <a:endParaRPr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41331F-A518-2371-77F8-0F68EA6DB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23" y="1293323"/>
            <a:ext cx="7392810" cy="4966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C07194-D313-15C5-9411-6ABF4E719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476" y="1293323"/>
            <a:ext cx="7771351" cy="460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935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A2A2F-B4E5-00E5-7B89-8CBDB8C7B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0A123-4696-C68A-886B-346B3485A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Screenshots</a:t>
            </a:r>
            <a:endParaRPr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FF7B3A-40A6-548F-0307-2CAB2BF3D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38" y="1361004"/>
            <a:ext cx="6288632" cy="5321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DEA838-F81D-B651-C927-44FAD4ACF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14880"/>
            <a:ext cx="6026287" cy="494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333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Next Steps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7B09088-E69C-488C-6725-AEE29DA3B6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495" y="1680672"/>
            <a:ext cx="10515600" cy="4149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dirty="0"/>
              <a:t>Add more threat intelligence feeds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dirty="0"/>
              <a:t>MCP Gateway implementation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dirty="0"/>
              <a:t>Authentication &amp; authorization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dirty="0"/>
              <a:t>Logging &amp; monitoring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dirty="0"/>
              <a:t>Standalone app with APIs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dirty="0"/>
              <a:t>Alerts via emails for phishing detected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dirty="0"/>
              <a:t>Improve log-based detection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dirty="0"/>
              <a:t>Human-in-the-loop actions via UI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Office PowerPoint</Application>
  <PresentationFormat>Widescreen</PresentationFormat>
  <Paragraphs>45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Avenir Next LT Pro</vt:lpstr>
      <vt:lpstr>Calibri</vt:lpstr>
      <vt:lpstr>Tw Cen MT</vt:lpstr>
      <vt:lpstr>ShapesVTI</vt:lpstr>
      <vt:lpstr>Autonomous Phishing Triage Agent</vt:lpstr>
      <vt:lpstr>The Problem</vt:lpstr>
      <vt:lpstr>The Solution</vt:lpstr>
      <vt:lpstr>Business Impact</vt:lpstr>
      <vt:lpstr>Tech Stack</vt:lpstr>
      <vt:lpstr>Implementation video</vt:lpstr>
      <vt:lpstr>The Investigation Workflow</vt:lpstr>
      <vt:lpstr>Architecture Diagram</vt:lpstr>
      <vt:lpstr>Workflow Diagram</vt:lpstr>
      <vt:lpstr>Screenshots</vt:lpstr>
      <vt:lpstr>Screenshots</vt:lpstr>
      <vt:lpstr>Screenshots</vt:lpstr>
      <vt:lpstr>Screenshots</vt:lpstr>
      <vt:lpstr>Screenshots</vt:lpstr>
      <vt:lpstr>Screenshots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Souradeep Dutta</cp:lastModifiedBy>
  <cp:revision>6</cp:revision>
  <dcterms:modified xsi:type="dcterms:W3CDTF">2026-04-13T07:43:53Z</dcterms:modified>
</cp:coreProperties>
</file>